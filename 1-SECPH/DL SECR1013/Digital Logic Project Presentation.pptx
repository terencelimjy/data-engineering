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Montserrat Bold" charset="1" panose="00000800000000000000"/>
      <p:regular r:id="rId26"/>
    </p:embeddedFont>
    <p:embeddedFont>
      <p:font typeface="DM Sans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jpe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jpe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9.jpe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744128" y="6172200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77261" y="1685763"/>
            <a:ext cx="12709965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LIFT</a:t>
            </a:r>
          </a:p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CONTROL SYSTEM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71223" y="8816340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71597" y="6240061"/>
            <a:ext cx="8944807" cy="1276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SECR1013-03 DIGITAL LOGIC</a:t>
            </a:r>
          </a:p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GROUP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33345" y="2028623"/>
            <a:ext cx="10620170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PREPARED BY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4611958">
            <a:off x="15396473" y="81891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66422" y="7969654"/>
            <a:ext cx="2590243" cy="2577292"/>
          </a:xfrm>
          <a:custGeom>
            <a:avLst/>
            <a:gdLst/>
            <a:ahLst/>
            <a:cxnLst/>
            <a:rect r="r" b="b" t="t" l="l"/>
            <a:pathLst>
              <a:path h="2577292" w="2590243">
                <a:moveTo>
                  <a:pt x="0" y="0"/>
                </a:moveTo>
                <a:lnTo>
                  <a:pt x="2590244" y="0"/>
                </a:lnTo>
                <a:lnTo>
                  <a:pt x="2590244" y="2577292"/>
                </a:lnTo>
                <a:lnTo>
                  <a:pt x="0" y="2577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525680" y="4254271"/>
            <a:ext cx="3217882" cy="3217882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1855" r="0" b="-3124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26824" y="4254271"/>
            <a:ext cx="3217882" cy="3217882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9"/>
              <a:stretch>
                <a:fillRect l="-6711" t="-35905" r="-9395" b="-1890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44574" y="4254271"/>
            <a:ext cx="3217882" cy="3217882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16216" r="0" b="-1621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39638" y="4254271"/>
            <a:ext cx="3217882" cy="3217882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12067" r="0" b="-3116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936730" y="7472152"/>
            <a:ext cx="23957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Terence Lim Jian Yuan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7036" y="7472152"/>
            <a:ext cx="244101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Wong Jing Jie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245231" y="7472152"/>
            <a:ext cx="258838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James Sim Chia Tai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88657" y="7472152"/>
            <a:ext cx="211984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Ng Yaw Kuan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0979" y="2912428"/>
            <a:ext cx="12866041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08449" y="4914900"/>
            <a:ext cx="11471102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Design a 3-bit synchronous counter for the lift system controller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Implement basic principles of combinational and sequential logic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Test and check the functionality of designed circuit using Deeds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Utilise the components of combinational and sequential circuits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Develop problem-solving, logical thinking and teamworking skills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Demonstrate and explain the operation of the lift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4177486" y="-4286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0" y="6172200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842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1958">
            <a:off x="15396473" y="7658553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r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0979" y="2912428"/>
            <a:ext cx="12866041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08449" y="4914900"/>
            <a:ext cx="11471102" cy="293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To implement a 8-level lift system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Utilise 3-bit synchronous counter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Added extra authentication features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Circuits:</a:t>
            </a:r>
          </a:p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Combinational circuit</a:t>
            </a:r>
          </a:p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Sequential circuit</a:t>
            </a:r>
          </a:p>
          <a:p>
            <a:pPr algn="l">
              <a:lnSpc>
                <a:spcPts val="3360"/>
              </a:lnSpc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Additional features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4177486" y="-4286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0" y="6172200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842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1958">
            <a:off x="15396473" y="7658553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0979" y="2406650"/>
            <a:ext cx="12866041" cy="258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408449" y="6172200"/>
            <a:ext cx="11471102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Lack strong security systems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Unauthorised lift access</a:t>
            </a:r>
          </a:p>
          <a:p>
            <a:pPr algn="l" marL="604521" indent="-302261" lvl="1">
              <a:lnSpc>
                <a:spcPts val="3360"/>
              </a:lnSpc>
              <a:buFont typeface="Arial"/>
              <a:buChar char="•"/>
            </a:pPr>
            <a:r>
              <a:rPr lang="en-US" sz="2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Need for authentication from authorised personnel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5400000">
            <a:off x="14177486" y="-4286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0" y="6172200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4842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611958">
            <a:off x="15396473" y="7658553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754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4066" y="7043014"/>
            <a:ext cx="4135477" cy="4114800"/>
          </a:xfrm>
          <a:custGeom>
            <a:avLst/>
            <a:gdLst/>
            <a:ahLst/>
            <a:cxnLst/>
            <a:rect r="r" b="b" t="t" l="l"/>
            <a:pathLst>
              <a:path h="4114800" w="4135477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850182" y="869095"/>
            <a:ext cx="7656609" cy="7656609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6"/>
              <a:stretch>
                <a:fillRect l="-25031" t="0" r="-2503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67605" y="4641426"/>
            <a:ext cx="7526522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Card + 4-bit Password Protection</a:t>
            </a:r>
          </a:p>
          <a:p>
            <a:pPr algn="l" marL="561339" indent="-280669" lvl="1">
              <a:lnSpc>
                <a:spcPts val="3119"/>
              </a:lnSpc>
              <a:buFont typeface="Arial"/>
              <a:buChar char="•"/>
            </a:pPr>
            <a:r>
              <a:rPr lang="en-US" sz="25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Integrates advanced electronic components: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- 3-bit floor comparator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- 4-bit password comparator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- JK flip-flops as counters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- Basic gates to route signals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0235" y="1334022"/>
            <a:ext cx="7803892" cy="249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b="true" sz="9601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SUGGESTED SOLUTION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494117" y="7043014"/>
            <a:ext cx="2793883" cy="3243986"/>
          </a:xfrm>
          <a:custGeom>
            <a:avLst/>
            <a:gdLst/>
            <a:ahLst/>
            <a:cxnLst/>
            <a:rect r="r" b="b" t="t" l="l"/>
            <a:pathLst>
              <a:path h="3243986" w="2793883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63437" y="2240438"/>
            <a:ext cx="11761127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BLOCK DIAGRAM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190" y="8716270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349865" y="3788836"/>
            <a:ext cx="7588270" cy="5601476"/>
          </a:xfrm>
          <a:custGeom>
            <a:avLst/>
            <a:gdLst/>
            <a:ahLst/>
            <a:cxnLst/>
            <a:rect r="r" b="b" t="t" l="l"/>
            <a:pathLst>
              <a:path h="5601476" w="7588270">
                <a:moveTo>
                  <a:pt x="0" y="0"/>
                </a:moveTo>
                <a:lnTo>
                  <a:pt x="7588270" y="0"/>
                </a:lnTo>
                <a:lnTo>
                  <a:pt x="7588270" y="5601476"/>
                </a:lnTo>
                <a:lnTo>
                  <a:pt x="0" y="5601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3" t="0" r="-123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6099" y="2240438"/>
            <a:ext cx="11235802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STATE DIAGRAM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226" y="278767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7" y="0"/>
                </a:lnTo>
                <a:lnTo>
                  <a:pt x="2457677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190" y="87138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20845" y="3570762"/>
            <a:ext cx="5805833" cy="5697063"/>
          </a:xfrm>
          <a:custGeom>
            <a:avLst/>
            <a:gdLst/>
            <a:ahLst/>
            <a:cxnLst/>
            <a:rect r="r" b="b" t="t" l="l"/>
            <a:pathLst>
              <a:path h="5697063" w="5805833">
                <a:moveTo>
                  <a:pt x="0" y="0"/>
                </a:moveTo>
                <a:lnTo>
                  <a:pt x="5805834" y="0"/>
                </a:lnTo>
                <a:lnTo>
                  <a:pt x="5805834" y="5697063"/>
                </a:lnTo>
                <a:lnTo>
                  <a:pt x="0" y="56970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2" t="0" r="-102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41458" y="4306252"/>
            <a:ext cx="13805085" cy="1446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9"/>
              </a:lnSpc>
            </a:pPr>
            <a:r>
              <a:rPr lang="en-US" b="true" sz="1082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14177486" y="-4286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172200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842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611958">
            <a:off x="15396473" y="7658553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5897880" y="5733856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73062" y="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19721" y="8743950"/>
            <a:ext cx="3468279" cy="3086100"/>
            <a:chOff x="0" y="0"/>
            <a:chExt cx="91345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49479" y="9138792"/>
            <a:ext cx="3468279" cy="3086100"/>
            <a:chOff x="0" y="0"/>
            <a:chExt cx="9134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98788" y="3782253"/>
            <a:ext cx="10199688" cy="3457407"/>
          </a:xfrm>
          <a:custGeom>
            <a:avLst/>
            <a:gdLst/>
            <a:ahLst/>
            <a:cxnLst/>
            <a:rect r="r" b="b" t="t" l="l"/>
            <a:pathLst>
              <a:path h="3457407" w="10199688">
                <a:moveTo>
                  <a:pt x="0" y="0"/>
                </a:moveTo>
                <a:lnTo>
                  <a:pt x="10199687" y="0"/>
                </a:lnTo>
                <a:lnTo>
                  <a:pt x="10199687" y="3457406"/>
                </a:lnTo>
                <a:lnTo>
                  <a:pt x="0" y="3457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8788" y="1471010"/>
            <a:ext cx="13284831" cy="73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FUNCTION (JK FLIP-FLOPS)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03362" y="4606081"/>
            <a:ext cx="5160513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3 JK flip-flops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Synchronous saturated 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up/down counter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Common clock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Stop when clock disabler is LOW</a:t>
            </a:r>
          </a:p>
        </p:txBody>
      </p:sp>
    </p:spTree>
  </p:cSld>
  <p:clrMapOvr>
    <a:masterClrMapping/>
  </p:clrMapOvr>
  <p:transition spd="fast">
    <p:circl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73062" y="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19721" y="8743950"/>
            <a:ext cx="3468279" cy="3086100"/>
            <a:chOff x="0" y="0"/>
            <a:chExt cx="91345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49479" y="9138792"/>
            <a:ext cx="3468279" cy="3086100"/>
            <a:chOff x="0" y="0"/>
            <a:chExt cx="9134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98788" y="2687722"/>
            <a:ext cx="8143564" cy="5934622"/>
          </a:xfrm>
          <a:custGeom>
            <a:avLst/>
            <a:gdLst/>
            <a:ahLst/>
            <a:cxnLst/>
            <a:rect r="r" b="b" t="t" l="l"/>
            <a:pathLst>
              <a:path h="5934622" w="8143564">
                <a:moveTo>
                  <a:pt x="0" y="0"/>
                </a:moveTo>
                <a:lnTo>
                  <a:pt x="8143564" y="0"/>
                </a:lnTo>
                <a:lnTo>
                  <a:pt x="8143564" y="5934622"/>
                </a:lnTo>
                <a:lnTo>
                  <a:pt x="0" y="5934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8788" y="1471010"/>
            <a:ext cx="7451012" cy="73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FLOOR SWITCHES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95009" y="4629706"/>
            <a:ext cx="6964291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Uses 8 floor switches 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Encoded into 3-bit destination floor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Supports multiple selections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Priority based on the direction of the lift</a:t>
            </a:r>
          </a:p>
        </p:txBody>
      </p:sp>
    </p:spTree>
  </p:cSld>
  <p:clrMapOvr>
    <a:masterClrMapping/>
  </p:clrMapOvr>
  <p:transition spd="fast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73062" y="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19721" y="8743950"/>
            <a:ext cx="3468279" cy="3086100"/>
            <a:chOff x="0" y="0"/>
            <a:chExt cx="91345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49479" y="9138792"/>
            <a:ext cx="3468279" cy="3086100"/>
            <a:chOff x="0" y="0"/>
            <a:chExt cx="9134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98788" y="2718301"/>
            <a:ext cx="6496051" cy="5534901"/>
          </a:xfrm>
          <a:custGeom>
            <a:avLst/>
            <a:gdLst/>
            <a:ahLst/>
            <a:cxnLst/>
            <a:rect r="r" b="b" t="t" l="l"/>
            <a:pathLst>
              <a:path h="5534901" w="6496051">
                <a:moveTo>
                  <a:pt x="0" y="0"/>
                </a:moveTo>
                <a:lnTo>
                  <a:pt x="6496051" y="0"/>
                </a:lnTo>
                <a:lnTo>
                  <a:pt x="6496051" y="5534900"/>
                </a:lnTo>
                <a:lnTo>
                  <a:pt x="0" y="55349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8788" y="1471010"/>
            <a:ext cx="7451012" cy="73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CLOCK DISABLER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9658" y="3856976"/>
            <a:ext cx="7619642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5-input AND gate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HIGH when 5 inputs are HIGH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Inputs: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Clock Generator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Password Comparator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Floor Comparator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Card reader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Power switch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Start and stop the lift operation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73062" y="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19721" y="8743950"/>
            <a:ext cx="3468279" cy="3086100"/>
            <a:chOff x="0" y="0"/>
            <a:chExt cx="91345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49479" y="9138792"/>
            <a:ext cx="3468279" cy="3086100"/>
            <a:chOff x="0" y="0"/>
            <a:chExt cx="9134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98788" y="3086100"/>
            <a:ext cx="7245212" cy="5458950"/>
          </a:xfrm>
          <a:custGeom>
            <a:avLst/>
            <a:gdLst/>
            <a:ahLst/>
            <a:cxnLst/>
            <a:rect r="r" b="b" t="t" l="l"/>
            <a:pathLst>
              <a:path h="5458950" w="7245212">
                <a:moveTo>
                  <a:pt x="0" y="0"/>
                </a:moveTo>
                <a:lnTo>
                  <a:pt x="7245212" y="0"/>
                </a:lnTo>
                <a:lnTo>
                  <a:pt x="7245212" y="5458950"/>
                </a:lnTo>
                <a:lnTo>
                  <a:pt x="0" y="54589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8788" y="1471010"/>
            <a:ext cx="7451012" cy="142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PASSWORD COMPARATOR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39658" y="5091675"/>
            <a:ext cx="761964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4-bit MSI Comparator Chip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Verifies the password entered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Only outputs HIGH when the password entered is exactly equals to the preset password: “1101”</a:t>
            </a:r>
          </a:p>
        </p:txBody>
      </p:sp>
    </p:spTree>
  </p:cSld>
  <p:clrMapOvr>
    <a:masterClrMapping/>
  </p:clrMapOvr>
  <p:transition spd="fast">
    <p:push dir="r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73062" y="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19721" y="8743950"/>
            <a:ext cx="3468279" cy="3086100"/>
            <a:chOff x="0" y="0"/>
            <a:chExt cx="91345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49479" y="9138792"/>
            <a:ext cx="3468279" cy="3086100"/>
            <a:chOff x="0" y="0"/>
            <a:chExt cx="9134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13038" y="2896712"/>
            <a:ext cx="10440866" cy="5644314"/>
          </a:xfrm>
          <a:custGeom>
            <a:avLst/>
            <a:gdLst/>
            <a:ahLst/>
            <a:cxnLst/>
            <a:rect r="r" b="b" t="t" l="l"/>
            <a:pathLst>
              <a:path h="5644314" w="10440866">
                <a:moveTo>
                  <a:pt x="0" y="0"/>
                </a:moveTo>
                <a:lnTo>
                  <a:pt x="10440866" y="0"/>
                </a:lnTo>
                <a:lnTo>
                  <a:pt x="10440866" y="5644314"/>
                </a:lnTo>
                <a:lnTo>
                  <a:pt x="0" y="5644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8788" y="1471010"/>
            <a:ext cx="7451012" cy="142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FLOOR COMPARATOR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39654" y="4057650"/>
            <a:ext cx="4919646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Uses XNOR + NAND gates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Compares current floor and desired floor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Output: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HIGH → Floors not equal 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LOW → Floors are equal          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73062" y="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19721" y="8743950"/>
            <a:ext cx="3468279" cy="3086100"/>
            <a:chOff x="0" y="0"/>
            <a:chExt cx="91345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49479" y="9138792"/>
            <a:ext cx="3468279" cy="3086100"/>
            <a:chOff x="0" y="0"/>
            <a:chExt cx="9134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98788" y="4181346"/>
            <a:ext cx="8992202" cy="2281771"/>
          </a:xfrm>
          <a:custGeom>
            <a:avLst/>
            <a:gdLst/>
            <a:ahLst/>
            <a:cxnLst/>
            <a:rect r="r" b="b" t="t" l="l"/>
            <a:pathLst>
              <a:path h="2281771" w="8992202">
                <a:moveTo>
                  <a:pt x="0" y="0"/>
                </a:moveTo>
                <a:lnTo>
                  <a:pt x="8992201" y="0"/>
                </a:lnTo>
                <a:lnTo>
                  <a:pt x="8992201" y="2281772"/>
                </a:lnTo>
                <a:lnTo>
                  <a:pt x="0" y="22817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8788" y="1471010"/>
            <a:ext cx="7451012" cy="142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SOUND NOTIFICATION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73709" y="3874432"/>
            <a:ext cx="6085591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Configured a JK flip-flop to D flip-flop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Stores the comparator result one clock cycle earlier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2-input AND gate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Operation: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Floor ≠ Desired: AND=0 →sound OFF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Floor = Desired: AND= 1  →sound 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       - Next clock: AND=0         →sound OFF</a:t>
            </a:r>
          </a:p>
        </p:txBody>
      </p:sp>
    </p:spTree>
  </p:cSld>
  <p:clrMapOvr>
    <a:masterClrMapping/>
  </p:clrMapOvr>
  <p:transition spd="fast">
    <p:push dir="r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73062" y="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819721" y="8743950"/>
            <a:ext cx="3468279" cy="3086100"/>
            <a:chOff x="0" y="0"/>
            <a:chExt cx="91345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9D4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449479" y="9138792"/>
            <a:ext cx="3468279" cy="3086100"/>
            <a:chOff x="0" y="0"/>
            <a:chExt cx="913456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898788" y="3973283"/>
            <a:ext cx="10345004" cy="2760647"/>
          </a:xfrm>
          <a:custGeom>
            <a:avLst/>
            <a:gdLst/>
            <a:ahLst/>
            <a:cxnLst/>
            <a:rect r="r" b="b" t="t" l="l"/>
            <a:pathLst>
              <a:path h="2760647" w="10345004">
                <a:moveTo>
                  <a:pt x="0" y="0"/>
                </a:moveTo>
                <a:lnTo>
                  <a:pt x="10345004" y="0"/>
                </a:lnTo>
                <a:lnTo>
                  <a:pt x="10345004" y="2760646"/>
                </a:lnTo>
                <a:lnTo>
                  <a:pt x="0" y="2760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98788" y="1471010"/>
            <a:ext cx="7451012" cy="142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4"/>
              </a:lnSpc>
            </a:pPr>
            <a:r>
              <a:rPr lang="en-US" b="true" sz="560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CURRENT FLOOR DISPLAY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94508" y="4267756"/>
            <a:ext cx="476479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Shows current floor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Display in both binary and hex form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Driven by JK flip-flops</a:t>
            </a:r>
          </a:p>
        </p:txBody>
      </p:sp>
    </p:spTree>
  </p:cSld>
  <p:clrMapOvr>
    <a:masterClrMapping/>
  </p:clrMapOvr>
  <p:transition spd="fast">
    <p:push dir="u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640680" y="5262870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72822" y="0"/>
            <a:ext cx="2609964" cy="3030437"/>
          </a:xfrm>
          <a:custGeom>
            <a:avLst/>
            <a:gdLst/>
            <a:ahLst/>
            <a:cxnLst/>
            <a:rect r="r" b="b" t="t" l="l"/>
            <a:pathLst>
              <a:path h="3030437" w="2609964">
                <a:moveTo>
                  <a:pt x="0" y="0"/>
                </a:moveTo>
                <a:lnTo>
                  <a:pt x="2609964" y="0"/>
                </a:lnTo>
                <a:lnTo>
                  <a:pt x="2609964" y="3030437"/>
                </a:lnTo>
                <a:lnTo>
                  <a:pt x="0" y="30304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84160" y="2285220"/>
            <a:ext cx="7519679" cy="7863717"/>
          </a:xfrm>
          <a:custGeom>
            <a:avLst/>
            <a:gdLst/>
            <a:ahLst/>
            <a:cxnLst/>
            <a:rect r="r" b="b" t="t" l="l"/>
            <a:pathLst>
              <a:path h="7863717" w="7519679">
                <a:moveTo>
                  <a:pt x="0" y="0"/>
                </a:moveTo>
                <a:lnTo>
                  <a:pt x="7519680" y="0"/>
                </a:lnTo>
                <a:lnTo>
                  <a:pt x="7519680" y="7863716"/>
                </a:lnTo>
                <a:lnTo>
                  <a:pt x="0" y="78637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33822" y="859518"/>
            <a:ext cx="10620356" cy="142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b="true" sz="5600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FULL DIGITAL ELECTRONIC DEEDS CIRCUIT</a:t>
            </a:r>
          </a:p>
        </p:txBody>
      </p:sp>
    </p:spTree>
  </p:cSld>
  <p:clrMapOvr>
    <a:masterClrMapping/>
  </p:clrMapOvr>
  <p:transition spd="fast">
    <p:push dir="d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32209" y="2578082"/>
            <a:ext cx="10620170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99548" y="5637531"/>
            <a:ext cx="15128693" cy="133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3157" indent="-321578" lvl="1">
              <a:lnSpc>
                <a:spcPts val="3574"/>
              </a:lnSpc>
              <a:buFont typeface="Arial"/>
              <a:buChar char="•"/>
            </a:pPr>
            <a:r>
              <a:rPr lang="en-US" sz="2978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Demonstrated the design and implementation of an elevator.</a:t>
            </a:r>
          </a:p>
          <a:p>
            <a:pPr algn="l" marL="643157" indent="-321578" lvl="1">
              <a:lnSpc>
                <a:spcPts val="3574"/>
              </a:lnSpc>
              <a:buFont typeface="Arial"/>
              <a:buChar char="•"/>
            </a:pPr>
            <a:r>
              <a:rPr lang="en-US" sz="2978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Designed by implementing a 3-bit synchronous counter and other components.</a:t>
            </a:r>
          </a:p>
          <a:p>
            <a:pPr algn="l" marL="643157" indent="-321578" lvl="1">
              <a:lnSpc>
                <a:spcPts val="3574"/>
              </a:lnSpc>
              <a:buFont typeface="Arial"/>
              <a:buChar char="•"/>
            </a:pPr>
            <a:r>
              <a:rPr lang="en-US" sz="2978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These collaboration of components enable the function of the system.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5469580" y="7462696"/>
            <a:ext cx="2818420" cy="2824304"/>
          </a:xfrm>
          <a:custGeom>
            <a:avLst/>
            <a:gdLst/>
            <a:ahLst/>
            <a:cxnLst/>
            <a:rect r="r" b="b" t="t" l="l"/>
            <a:pathLst>
              <a:path h="2824304" w="2818420">
                <a:moveTo>
                  <a:pt x="0" y="0"/>
                </a:moveTo>
                <a:lnTo>
                  <a:pt x="2818420" y="0"/>
                </a:lnTo>
                <a:lnTo>
                  <a:pt x="2818420" y="2824304"/>
                </a:lnTo>
                <a:lnTo>
                  <a:pt x="0" y="2824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6902994" cy="7462696"/>
          </a:xfrm>
          <a:custGeom>
            <a:avLst/>
            <a:gdLst/>
            <a:ahLst/>
            <a:cxnLst/>
            <a:rect r="r" b="b" t="t" l="l"/>
            <a:pathLst>
              <a:path h="7462696" w="6902994">
                <a:moveTo>
                  <a:pt x="0" y="0"/>
                </a:moveTo>
                <a:lnTo>
                  <a:pt x="6902994" y="0"/>
                </a:lnTo>
                <a:lnTo>
                  <a:pt x="6902994" y="7462696"/>
                </a:lnTo>
                <a:lnTo>
                  <a:pt x="0" y="7462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190" y="87138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464653" y="-259808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8DB2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</p:spTree>
  </p:cSld>
  <p:clrMapOvr>
    <a:masterClrMapping/>
  </p:clrMapOvr>
  <p:transition spd="fast">
    <p:wipe dir="r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3026317"/>
            <a:ext cx="10620170" cy="13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REFLECTION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38278" y="5652402"/>
            <a:ext cx="15321022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394" indent="-313197" lvl="1">
              <a:lnSpc>
                <a:spcPts val="3481"/>
              </a:lnSpc>
              <a:buFont typeface="Arial"/>
              <a:buChar char="•"/>
            </a:pPr>
            <a:r>
              <a:rPr lang="en-US" sz="290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This project enhanced our knowledge in Digital Logic.</a:t>
            </a:r>
          </a:p>
          <a:p>
            <a:pPr algn="l" marL="626394" indent="-313197" lvl="1">
              <a:lnSpc>
                <a:spcPts val="3481"/>
              </a:lnSpc>
              <a:buFont typeface="Arial"/>
              <a:buChar char="•"/>
            </a:pPr>
            <a:r>
              <a:rPr lang="en-US" sz="290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Provided many practical experience in the application of digital electronics concepts.</a:t>
            </a:r>
          </a:p>
          <a:p>
            <a:pPr algn="l" marL="626394" indent="-313197" lvl="1">
              <a:lnSpc>
                <a:spcPts val="3481"/>
              </a:lnSpc>
              <a:buFont typeface="Arial"/>
              <a:buChar char="•"/>
            </a:pPr>
            <a:r>
              <a:rPr lang="en-US" sz="2901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We’re excited to implement more complex circuit in the future.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5469580" y="7462696"/>
            <a:ext cx="2818420" cy="2824304"/>
          </a:xfrm>
          <a:custGeom>
            <a:avLst/>
            <a:gdLst/>
            <a:ahLst/>
            <a:cxnLst/>
            <a:rect r="r" b="b" t="t" l="l"/>
            <a:pathLst>
              <a:path h="2824304" w="2818420">
                <a:moveTo>
                  <a:pt x="0" y="0"/>
                </a:moveTo>
                <a:lnTo>
                  <a:pt x="2818420" y="0"/>
                </a:lnTo>
                <a:lnTo>
                  <a:pt x="2818420" y="2824304"/>
                </a:lnTo>
                <a:lnTo>
                  <a:pt x="0" y="2824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6902994" cy="7462696"/>
          </a:xfrm>
          <a:custGeom>
            <a:avLst/>
            <a:gdLst/>
            <a:ahLst/>
            <a:cxnLst/>
            <a:rect r="r" b="b" t="t" l="l"/>
            <a:pathLst>
              <a:path h="7462696" w="6902994">
                <a:moveTo>
                  <a:pt x="0" y="0"/>
                </a:moveTo>
                <a:lnTo>
                  <a:pt x="6902994" y="0"/>
                </a:lnTo>
                <a:lnTo>
                  <a:pt x="6902994" y="7462696"/>
                </a:lnTo>
                <a:lnTo>
                  <a:pt x="0" y="74626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190" y="8713836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464653" y="-259808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8DB2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4208460"/>
            <a:ext cx="10620170" cy="163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9"/>
              </a:lnSpc>
            </a:pPr>
            <a:r>
              <a:rPr lang="en-US" b="true" sz="12399">
                <a:solidFill>
                  <a:srgbClr val="0138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004548" y="6644568"/>
            <a:ext cx="5931354" cy="358353"/>
          </a:xfrm>
          <a:custGeom>
            <a:avLst/>
            <a:gdLst/>
            <a:ahLst/>
            <a:cxnLst/>
            <a:rect r="r" b="b" t="t" l="l"/>
            <a:pathLst>
              <a:path h="358353" w="5931354">
                <a:moveTo>
                  <a:pt x="0" y="0"/>
                </a:moveTo>
                <a:lnTo>
                  <a:pt x="5931354" y="0"/>
                </a:lnTo>
                <a:lnTo>
                  <a:pt x="5931354" y="358352"/>
                </a:lnTo>
                <a:lnTo>
                  <a:pt x="0" y="35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17" y="-16987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81438" y="6304600"/>
            <a:ext cx="5297854" cy="5271365"/>
          </a:xfrm>
          <a:custGeom>
            <a:avLst/>
            <a:gdLst/>
            <a:ahLst/>
            <a:cxnLst/>
            <a:rect r="r" b="b" t="t" l="l"/>
            <a:pathLst>
              <a:path h="5271365" w="5297854">
                <a:moveTo>
                  <a:pt x="0" y="0"/>
                </a:moveTo>
                <a:lnTo>
                  <a:pt x="5297854" y="0"/>
                </a:lnTo>
                <a:lnTo>
                  <a:pt x="5297854" y="5271365"/>
                </a:lnTo>
                <a:lnTo>
                  <a:pt x="0" y="5271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DAG_Tt3lZrA</dc:identifier>
  <dcterms:modified xsi:type="dcterms:W3CDTF">2011-08-01T06:04:30Z</dcterms:modified>
  <cp:revision>1</cp:revision>
  <dc:title>Digital Logic Project Presentation</dc:title>
</cp:coreProperties>
</file>